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NARASI (ucapkan): "Kami tim J4. Ini Kepang AI - decision intelligence untuk ketahanan pangan daerah."
DURASI: 5 detik.
YANG TAMPIL: Kartu judul ini persis - logo + judul lengkap.
CATATAN: Ini slide overlay sungguhan untuk video, bukan storyboard - potong langsung dari slide ini ke screen recording di detik 0:05.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NARASI (ucapkan): "Inflasi pangan 5,58 persen — hampir dua kali inflasi umum. Rupiah dan suku bunga menekan. Tapi sinyalnya tersebar di empat lembaga, dan TPID telat bertindak."
DURASI: 0:05–0:15
FOKUS: Cockpit live — sorot metrik
AKSI DI LAYAR:
- Buka Cockpit di pidi-seven.vercel.app
- Sorot metrik Volatile Food 5,58%
- Sorot metrik USD/IDR Rp17.944
- Sorot metrik Resilience Score
CATATAN: Slide ini adalah storyboard/teleprompter, BUKAN dipotong langsung ke video. Segmen ini direkam sebagai screen recording aplikasi live (https://pidi-seven.vercel.app).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NARASI (ucapkan): "Kepang AI menganyam keempatnya jadi satu. Ini peta harga beras 34 provinsi, live dari Bank Indonesia. Papua dan Kalimantan dua puluh persen di atas median nasional — sementara lumbung padi di bawah. Dari sini sistem langsung menyusun prioritas: wilayah mana yang perlu ditindak duluan."
DURASI: 0:15–0:35
FOKUS: Screen record — hover peta + decision brief
AKSI DI LAYAR:
- Hover peta 34 provinsi — provinsi merah (Papua/Kalimantan) sampai tooltip harga muncul
- Lanjut ke decision brief di hero Cockpit
CATATAN: Slide ini adalah storyboard/teleprompter, BUKAN dipotong langsung ke video. Segmen ini direkam sebagai screen recording aplikasi live (https://pidi-seven.vercel.app).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NARASI (ucapkan): "Skornya bukan black-box. Dihitung dari formula yang bisa ditelusuri — cuaca BMKG, harga BI, produksi BPS, indeks iklim NOAA — semuanya live, dan tiap angka diberi label sumbernya."
DURASI: 0:35–0:45
FOKUS: Screen record — Source Health / data lineage
AKSI DI LAYAR:
- Scroll ke panel Source Health &amp; Data Lineage
- Sorot badge status per dataset (real-time / official-release / forecast)
CATATAN: Slide ini adalah storyboard/teleprompter, BUKAN dipotong langsung ke video. Segmen ini direkam sebagai screen recording aplikasi live (https://pidi-seven.vercel.app).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NARASI (ucapkan): "Hasilnya: identifikasi wilayah prioritas dari berjam-jam jadi di bawah tiga menit. Pasarnya nyata - APBN pangan 210 triliun. Model SaaS ke pemda dan BI regional."
DURASI: 10 detik (0:45-0:55).
CATATAN: Slide overlay sungguhan - potong ke sini setelah demo Source Health, lalu lanjut ke slide 6 (bridge closing).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NARASI (ucapkan): "Prototype sudah live dengan data real. Kami buka pilot dengan BI dan TPID."
DURASI: 5 detik (0:55-1:00). Ini adalah JEMBATAN dari pitch ke demo, bukan penutup akhir video.
CATATAN: Setelah slide ini, potong ke screen recording live (mulai segmen demo, slide 8 dst).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PEMBATAS (untuk presenter/editor, bukan bagian tersambung otomatis ke video, tapi boleh dipotong sebagai transisi cepat 1-2 detik jika mau). Menandai mulainya 2 menit demo screen-recording murni.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NARASI (ucapkan): "Ini alur kerja seorang analis TPID saat harga beras naik cepat. Saya mulai dari Cockpit."
DURASI: 1:00–1:10
FOKUS: Pengantar deep dive
AKSI DI LAYAR:
- Buka pidi-seven.vercel.app
- Tampilkan halaman Cockpit dari awal
CATATAN: Slide ini adalah storyboard/teleprompter, BUKAN dipotong langsung ke video. Segmen ini direkam sebagai screen recording aplikasi live (https://pidi-seven.vercel.app).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NARASI (ucapkan berurutan):
1. "Pertama saya pilih peran - TPID - dan brief-nya menyesuaikan tanggung jawab saya." (aksi: klik role switcher TPID-&gt;Bulog-&gt;TPID)
2. "Resilience Score 63, dan sistem sudah menaruh aksi prioritas: pre-positioning stok ke wilayah defisit, lengkap dengan owner, timeframe, dan KPI." (aksi: tunjuk decision brief + klik 1 kartu aksi drill-down)
3. "Di peta nasional, saya lihat langsung provinsi mana yang harga berasnya di atas median." (aksi: hover 2-3 provinsi merah di peta 34 provinsi)
DURASI: 50 detik (1:10-2:00) - beat terpanjang di demo, atur pace narasi santai.
CATATAN: Screen recording murni, storyboard ini untuk latihan/teleprompter saja.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NARASI (ucapkan): "Di baliknya: input harga harian BI, forecast BMKG, fase ENSO NOAA, produksi BPS. Diproses jadi skor risiko dengan bobot tetap, lalu digabung jadi Resilience Score. Setiap dataset diberi label real-time, rilis resmi, forecast, atau belum tersedia — bisa diaudit dari API, bukan cuma diklaim di layar."
DURASI: 2:00–2:30
FOKUS: Cara kerja &amp; kedalaman
AKSI DI LAYAR:
- Scroll ke panel Source Health
- Tunjuk label tiap dataset + persen confidence
CATATAN: Slide ini adalah storyboard/teleprompter, BUKAN dipotong langsung ke video. Segmen ini direkam sebagai screen recording aplikasi live (https://pidi-seven.vercel.app).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NARASI (ucapkan): "Datanya benar-benar hidup — harga per provinsi ini ditarik langsung dari BI, bukan angka contoh. Setiap integrasi kami verifikasi; prosesnya menemukan dan memperbaiki bug nyata. Validasi ke pengguna langsung — wawancara dengan BI yang menangani pangan — sedang kami jadwalkan."
DURASI: 2:30–2:50
FOKUS: Bukti validasi / hasil awal
AKSI DI LAYAR:
- Jalankan Simulator Shock — geser slider rupiah dan/atau panen
- Tunjukkan skor berubah real-time
CATATAN: Slide ini adalah storyboard/teleprompter, BUKAN dipotong langsung ke video. Segmen ini direkam sebagai screen recording aplikasi live (https://pidi-seven.vercel.app).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NARASI (ucapkan): "Harga, cuaca, dan produksi sudah real. Stok dan biaya logistik kami tandai forecast sampai ada kemitraan Bapanas dan Bulog - bukan dikarang. Prototype live. Terima kasih."
DURASI: 10 detik (2:50-3:00).
AKSI SEBELUM SLIDE INI: buka modal Export decision brief di app, tunjukkan bisa dicetak/PDF, baru potong ke kartu penutup ini.
CATATAN: Ini kartu penutup video yang sesungguhnya - slide overlay asli, bukan storyboard.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referensi tim untuk persiapan syuting - TIDAK dipotong ke dalam video final. Cetak atau buka di layar kedua saat merekam.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91F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685800"/>
            <a:ext cx="1005840" cy="100584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</p:sp>
      <p:pic>
        <p:nvPicPr>
          <p:cNvPr id="4" name="Image 0" descr="C:\Users\julia\AppData\Local\Temp\claude\C--Users-julia-JR-PIDI-Hackathon\9bb0f1d6-e129-493d-9e1b-8076c3c334d4\scratchpad\pptx_build\icons\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923544"/>
            <a:ext cx="530352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J4  ·  PIDI – DIGDAYA X HACKATHON 2026  ·  3RD SUBMISSION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22960" y="24231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Kepang AI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822960" y="34290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3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Intelligence untuk Resiliensi Ketahanan Pangan Daerah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22960" y="4343400"/>
            <a:ext cx="7863840" cy="1234440"/>
          </a:xfrm>
          <a:prstGeom prst="roundRect">
            <a:avLst>
              <a:gd name="adj" fmla="val 5926"/>
            </a:avLst>
          </a:prstGeom>
          <a:solidFill>
            <a:srgbClr val="0B3B2E"/>
          </a:solidFill>
          <a:ln w="12700">
            <a:solidFill>
              <a:srgbClr val="1F5A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97280" y="4526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F3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“Kami tim J4. Ini Kepang AI — decision intelligence untuk ketahanan pangan daerah.”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5897880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0F4534"/>
          </a:solidFill>
          <a:ln w="12700">
            <a:solidFill>
              <a:srgbClr val="1F5A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589788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0:00–0:05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814255" y="384048"/>
            <a:ext cx="1874520" cy="310896"/>
          </a:xfrm>
          <a:prstGeom prst="roundRect">
            <a:avLst>
              <a:gd name="adj" fmla="val 17647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3" name="Image 1" descr="C:\Users\julia\AppData\Local\Temp\claude\C--Users-julia-JR-PIDI-Hackathon\9bb0f1d6-e129-493d-9e1b-8076c3c334d4\scratchpad\pptx_build\icons\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7407" y="438912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143439" y="38404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OVERLAY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F3FAF6"/>
          </a:solidFill>
          <a:ln w="12700">
            <a:solidFill>
              <a:srgbClr val="D8E8D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0:05–0:15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814255" y="384048"/>
            <a:ext cx="1874520" cy="310896"/>
          </a:xfrm>
          <a:prstGeom prst="roundRect">
            <a:avLst>
              <a:gd name="adj" fmla="val 17647"/>
            </a:avLst>
          </a:prstGeom>
          <a:solidFill>
            <a:srgbClr val="FFF7E8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5" name="Image 0" descr="C:\Users\julia\AppData\Local\Temp\claude\C--Users-julia-JR-PIDI-Hackathon\9bb0f1d6-e129-493d-9e1b-8076c3c334d4\scratchpad\pptx_build\icons\vide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87407" y="438912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143439" y="38404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REKAM LAYAR LIVE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2920" y="8686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120" kern="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COCKPIT LIVE — SOROT METRIK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11704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Sinyal Krisis, Empat Lembaga Terpisah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502920" y="2057400"/>
            <a:ext cx="626364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D8E8DE"/>
            </a:solidFill>
            <a:prstDash val="solid"/>
          </a:ln>
          <a:effectLst>
            <a:outerShdw sx="100000" sy="100000" kx="0" ky="0" algn="bl" rotWithShape="0" blurRad="152400" dist="50800" dir="5400000">
              <a:srgbClr val="0B1F17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011680"/>
            <a:ext cx="146304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2011680"/>
            <a:ext cx="0" cy="146304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665976" y="2011680"/>
            <a:ext cx="146304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12280" y="2011680"/>
            <a:ext cx="0" cy="146304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5349240"/>
            <a:ext cx="146304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5202936"/>
            <a:ext cx="0" cy="146304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665976" y="5349240"/>
            <a:ext cx="146304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12280" y="5202936"/>
            <a:ext cx="0" cy="146304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pic>
        <p:nvPicPr>
          <p:cNvPr id="18" name="Image 1" descr="C:\Users\julia\AppData\Local\Temp\claude\C--Users-julia-JR-PIDI-Hackathon\9bb0f1d6-e129-493d-9e1b-8076c3c334d4\scratchpad\pptx_build\icons\compa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350008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280160" y="23682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1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NARASI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795528" y="2834640"/>
            <a:ext cx="567842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50" i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Inflasi pangan 5,58 persen — hampir dua kali inflasi umum. Rupiah dan suku bunga menekan. Tapi sinyalnya tersebar di empat lembaga, dan TPID telat bertindak.</a:t>
            </a:r>
            <a:endParaRPr lang="en-US" sz="1550" dirty="0"/>
          </a:p>
        </p:txBody>
      </p:sp>
      <p:sp>
        <p:nvSpPr>
          <p:cNvPr id="21" name="Shape 17"/>
          <p:cNvSpPr/>
          <p:nvPr/>
        </p:nvSpPr>
        <p:spPr>
          <a:xfrm>
            <a:off x="6949440" y="2057400"/>
            <a:ext cx="4739335" cy="3246120"/>
          </a:xfrm>
          <a:prstGeom prst="roundRect">
            <a:avLst>
              <a:gd name="adj" fmla="val 2535"/>
            </a:avLst>
          </a:prstGeom>
          <a:solidFill>
            <a:srgbClr val="0B3B2E"/>
          </a:solidFill>
          <a:ln/>
        </p:spPr>
      </p:sp>
      <p:sp>
        <p:nvSpPr>
          <p:cNvPr id="22" name="Shape 18"/>
          <p:cNvSpPr/>
          <p:nvPr/>
        </p:nvSpPr>
        <p:spPr>
          <a:xfrm>
            <a:off x="6903720" y="2011680"/>
            <a:ext cx="14630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903720" y="2011680"/>
            <a:ext cx="0" cy="14630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1588191" y="2011680"/>
            <a:ext cx="14630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11734495" y="2011680"/>
            <a:ext cx="0" cy="14630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903720" y="5349240"/>
            <a:ext cx="14630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903720" y="5202936"/>
            <a:ext cx="0" cy="14630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11588191" y="5349240"/>
            <a:ext cx="14630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11734495" y="5202936"/>
            <a:ext cx="0" cy="14630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pic>
        <p:nvPicPr>
          <p:cNvPr id="30" name="Image 2" descr="C:\Users\julia\AppData\Local\Temp\claude\C--Users-julia-JR-PIDI-Hackathon\9bb0f1d6-e129-493d-9e1b-8076c3c334d4\scratchpad\pptx_build\icons\monit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2331720"/>
            <a:ext cx="329184" cy="329184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7662672" y="23500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DI LAYAR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7223760" y="2807208"/>
            <a:ext cx="419069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F3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Cockpit di pidi-seven.vercel.app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F3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Sorot metrik Volatile Food 5,58%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F3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Sorot metrik USD/IDR Rp17.944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F3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Sorot metrik Resilience Score</a:t>
            </a:r>
            <a:endParaRPr lang="en-US" sz="1350" dirty="0"/>
          </a:p>
        </p:txBody>
      </p:sp>
      <p:sp>
        <p:nvSpPr>
          <p:cNvPr id="33" name="Shape 28"/>
          <p:cNvSpPr/>
          <p:nvPr/>
        </p:nvSpPr>
        <p:spPr>
          <a:xfrm>
            <a:off x="502920" y="5532120"/>
            <a:ext cx="2281428" cy="50292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34" name="Text 29"/>
          <p:cNvSpPr/>
          <p:nvPr/>
        </p:nvSpPr>
        <p:spPr>
          <a:xfrm>
            <a:off x="502920" y="5532120"/>
            <a:ext cx="22814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Volatile Food 5,58%</a:t>
            </a:r>
            <a:endParaRPr lang="en-US" sz="1150" dirty="0"/>
          </a:p>
        </p:txBody>
      </p:sp>
      <p:sp>
        <p:nvSpPr>
          <p:cNvPr id="35" name="Shape 30"/>
          <p:cNvSpPr/>
          <p:nvPr/>
        </p:nvSpPr>
        <p:spPr>
          <a:xfrm>
            <a:off x="2985516" y="5532120"/>
            <a:ext cx="1993392" cy="50292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36" name="Text 31"/>
          <p:cNvSpPr/>
          <p:nvPr/>
        </p:nvSpPr>
        <p:spPr>
          <a:xfrm>
            <a:off x="2985516" y="553212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USD/IDR Rp17.944</a:t>
            </a:r>
            <a:endParaRPr lang="en-US" sz="1150" dirty="0"/>
          </a:p>
        </p:txBody>
      </p:sp>
      <p:sp>
        <p:nvSpPr>
          <p:cNvPr id="37" name="Shape 32"/>
          <p:cNvSpPr/>
          <p:nvPr/>
        </p:nvSpPr>
        <p:spPr>
          <a:xfrm>
            <a:off x="5180076" y="5532120"/>
            <a:ext cx="1993392" cy="50292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38" name="Text 33"/>
          <p:cNvSpPr/>
          <p:nvPr/>
        </p:nvSpPr>
        <p:spPr>
          <a:xfrm>
            <a:off x="5180076" y="553212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Score</a:t>
            </a:r>
            <a:endParaRPr lang="en-US" sz="1150" dirty="0"/>
          </a:p>
        </p:txBody>
      </p:sp>
      <p:sp>
        <p:nvSpPr>
          <p:cNvPr id="39" name="Text 3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Kepang AI · Tim J4 · Video Pitch 180 detik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894557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 1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F3FAF6"/>
          </a:solidFill>
          <a:ln w="12700">
            <a:solidFill>
              <a:srgbClr val="D8E8D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0:15–0:35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814255" y="384048"/>
            <a:ext cx="1874520" cy="310896"/>
          </a:xfrm>
          <a:prstGeom prst="roundRect">
            <a:avLst>
              <a:gd name="adj" fmla="val 17647"/>
            </a:avLst>
          </a:prstGeom>
          <a:solidFill>
            <a:srgbClr val="FFF7E8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5" name="Image 0" descr="C:\Users\julia\AppData\Local\Temp\claude\C--Users-julia-JR-PIDI-Hackathon\9bb0f1d6-e129-493d-9e1b-8076c3c334d4\scratchpad\pptx_build\icons\vide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87407" y="438912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143439" y="38404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REKAM LAYAR LIVE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2920" y="8686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120" kern="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RECORD — HOVER PETA + DECISION BRIEF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11704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34 Provinsi &amp; Decision Brief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502920" y="2057400"/>
            <a:ext cx="626364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D8E8DE"/>
            </a:solidFill>
            <a:prstDash val="solid"/>
          </a:ln>
          <a:effectLst>
            <a:outerShdw sx="100000" sy="100000" kx="0" ky="0" algn="bl" rotWithShape="0" blurRad="152400" dist="50800" dir="5400000">
              <a:srgbClr val="0B1F17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011680"/>
            <a:ext cx="146304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2011680"/>
            <a:ext cx="0" cy="146304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665976" y="2011680"/>
            <a:ext cx="146304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12280" y="2011680"/>
            <a:ext cx="0" cy="146304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5349240"/>
            <a:ext cx="146304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5202936"/>
            <a:ext cx="0" cy="146304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665976" y="5349240"/>
            <a:ext cx="146304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12280" y="5202936"/>
            <a:ext cx="0" cy="146304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pic>
        <p:nvPicPr>
          <p:cNvPr id="18" name="Image 1" descr="C:\Users\julia\AppData\Local\Temp\claude\C--Users-julia-JR-PIDI-Hackathon\9bb0f1d6-e129-493d-9e1b-8076c3c334d4\scratchpad\pptx_build\icons\compa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350008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280160" y="23682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1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NARASI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795528" y="2834640"/>
            <a:ext cx="567842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50" i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Kepang AI menganyam keempatnya jadi satu. Ini peta harga beras 34 provinsi, live dari Bank Indonesia. Papua dan Kalimantan dua puluh persen di atas median nasional — sementara lumbung padi di bawah. Dari sini sistem langsung menyusun prioritas: wilayah mana yang perlu ditindak duluan.</a:t>
            </a:r>
            <a:endParaRPr lang="en-US" sz="1550" dirty="0"/>
          </a:p>
        </p:txBody>
      </p:sp>
      <p:sp>
        <p:nvSpPr>
          <p:cNvPr id="21" name="Shape 17"/>
          <p:cNvSpPr/>
          <p:nvPr/>
        </p:nvSpPr>
        <p:spPr>
          <a:xfrm>
            <a:off x="6949440" y="2057400"/>
            <a:ext cx="4739335" cy="3246120"/>
          </a:xfrm>
          <a:prstGeom prst="roundRect">
            <a:avLst>
              <a:gd name="adj" fmla="val 2535"/>
            </a:avLst>
          </a:prstGeom>
          <a:solidFill>
            <a:srgbClr val="0B3B2E"/>
          </a:solidFill>
          <a:ln/>
        </p:spPr>
      </p:sp>
      <p:sp>
        <p:nvSpPr>
          <p:cNvPr id="22" name="Shape 18"/>
          <p:cNvSpPr/>
          <p:nvPr/>
        </p:nvSpPr>
        <p:spPr>
          <a:xfrm>
            <a:off x="6903720" y="2011680"/>
            <a:ext cx="14630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903720" y="2011680"/>
            <a:ext cx="0" cy="14630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1588191" y="2011680"/>
            <a:ext cx="14630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11734495" y="2011680"/>
            <a:ext cx="0" cy="14630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903720" y="5349240"/>
            <a:ext cx="14630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903720" y="5202936"/>
            <a:ext cx="0" cy="14630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11588191" y="5349240"/>
            <a:ext cx="14630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11734495" y="5202936"/>
            <a:ext cx="0" cy="14630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pic>
        <p:nvPicPr>
          <p:cNvPr id="30" name="Image 2" descr="C:\Users\julia\AppData\Local\Temp\claude\C--Users-julia-JR-PIDI-Hackathon\9bb0f1d6-e129-493d-9e1b-8076c3c334d4\scratchpad\pptx_build\icons\monit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2331720"/>
            <a:ext cx="329184" cy="329184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7662672" y="23500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DI LAYAR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7223760" y="2807208"/>
            <a:ext cx="419069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F3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peta 34 provinsi — provinsi merah (Papua/Kalimantan) sampai tooltip harga muncul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F3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Lanjut ke decision brief di hero Cockpit</a:t>
            </a:r>
            <a:endParaRPr lang="en-US" sz="1350" dirty="0"/>
          </a:p>
        </p:txBody>
      </p:sp>
      <p:sp>
        <p:nvSpPr>
          <p:cNvPr id="33" name="Shape 28"/>
          <p:cNvSpPr/>
          <p:nvPr/>
        </p:nvSpPr>
        <p:spPr>
          <a:xfrm>
            <a:off x="502920" y="5532120"/>
            <a:ext cx="2089404" cy="50292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34" name="Text 29"/>
          <p:cNvSpPr/>
          <p:nvPr/>
        </p:nvSpPr>
        <p:spPr>
          <a:xfrm>
            <a:off x="502920" y="5532120"/>
            <a:ext cx="20894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Papua +20% median</a:t>
            </a:r>
            <a:endParaRPr lang="en-US" sz="1150" dirty="0"/>
          </a:p>
        </p:txBody>
      </p:sp>
      <p:sp>
        <p:nvSpPr>
          <p:cNvPr id="35" name="Shape 30"/>
          <p:cNvSpPr/>
          <p:nvPr/>
        </p:nvSpPr>
        <p:spPr>
          <a:xfrm>
            <a:off x="2793492" y="5532120"/>
            <a:ext cx="2569464" cy="50292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36" name="Text 31"/>
          <p:cNvSpPr/>
          <p:nvPr/>
        </p:nvSpPr>
        <p:spPr>
          <a:xfrm>
            <a:off x="2793492" y="5532120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Kalimantan +23% median</a:t>
            </a:r>
            <a:endParaRPr lang="en-US" sz="1150" dirty="0"/>
          </a:p>
        </p:txBody>
      </p:sp>
      <p:sp>
        <p:nvSpPr>
          <p:cNvPr id="37" name="Shape 32"/>
          <p:cNvSpPr/>
          <p:nvPr/>
        </p:nvSpPr>
        <p:spPr>
          <a:xfrm>
            <a:off x="5564124" y="5532120"/>
            <a:ext cx="3337560" cy="50292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38" name="Text 33"/>
          <p:cNvSpPr/>
          <p:nvPr/>
        </p:nvSpPr>
        <p:spPr>
          <a:xfrm>
            <a:off x="5564124" y="553212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NTB/DIY/Sulsel di bawah median</a:t>
            </a:r>
            <a:endParaRPr lang="en-US" sz="1150" dirty="0"/>
          </a:p>
        </p:txBody>
      </p:sp>
      <p:sp>
        <p:nvSpPr>
          <p:cNvPr id="39" name="Text 3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Kepang AI · Tim J4 · Video Pitch 180 detik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894557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 2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F3FAF6"/>
          </a:solidFill>
          <a:ln w="12700">
            <a:solidFill>
              <a:srgbClr val="D8E8D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0:35–0:45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814255" y="384048"/>
            <a:ext cx="1874520" cy="310896"/>
          </a:xfrm>
          <a:prstGeom prst="roundRect">
            <a:avLst>
              <a:gd name="adj" fmla="val 17647"/>
            </a:avLst>
          </a:prstGeom>
          <a:solidFill>
            <a:srgbClr val="FFF7E8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5" name="Image 0" descr="C:\Users\julia\AppData\Local\Temp\claude\C--Users-julia-JR-PIDI-Hackathon\9bb0f1d6-e129-493d-9e1b-8076c3c334d4\scratchpad\pptx_build\icons\vide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87407" y="438912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143439" y="38404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REKAM LAYAR LIVE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2920" y="8686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120" kern="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RECORD — SOURCE HEALTH / DATA LINEAGE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11704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 yang Bisa Ditelusuri, Bukan Black-Box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502920" y="2057400"/>
            <a:ext cx="626364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D8E8DE"/>
            </a:solidFill>
            <a:prstDash val="solid"/>
          </a:ln>
          <a:effectLst>
            <a:outerShdw sx="100000" sy="100000" kx="0" ky="0" algn="bl" rotWithShape="0" blurRad="152400" dist="50800" dir="5400000">
              <a:srgbClr val="0B1F17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011680"/>
            <a:ext cx="146304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2011680"/>
            <a:ext cx="0" cy="146304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665976" y="2011680"/>
            <a:ext cx="146304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12280" y="2011680"/>
            <a:ext cx="0" cy="146304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5349240"/>
            <a:ext cx="146304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5202936"/>
            <a:ext cx="0" cy="146304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665976" y="5349240"/>
            <a:ext cx="146304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12280" y="5202936"/>
            <a:ext cx="0" cy="146304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pic>
        <p:nvPicPr>
          <p:cNvPr id="18" name="Image 1" descr="C:\Users\julia\AppData\Local\Temp\claude\C--Users-julia-JR-PIDI-Hackathon\9bb0f1d6-e129-493d-9e1b-8076c3c334d4\scratchpad\pptx_build\icons\compa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350008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280160" y="23682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1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NARASI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795528" y="2834640"/>
            <a:ext cx="567842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50" i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Skornya bukan black-box. Dihitung dari formula yang bisa ditelusuri — cuaca BMKG, harga BI, produksi BPS, indeks iklim NOAA — semuanya live, dan tiap angka diberi label sumbernya.</a:t>
            </a:r>
            <a:endParaRPr lang="en-US" sz="1550" dirty="0"/>
          </a:p>
        </p:txBody>
      </p:sp>
      <p:sp>
        <p:nvSpPr>
          <p:cNvPr id="21" name="Shape 17"/>
          <p:cNvSpPr/>
          <p:nvPr/>
        </p:nvSpPr>
        <p:spPr>
          <a:xfrm>
            <a:off x="6949440" y="2057400"/>
            <a:ext cx="4739335" cy="3246120"/>
          </a:xfrm>
          <a:prstGeom prst="roundRect">
            <a:avLst>
              <a:gd name="adj" fmla="val 2535"/>
            </a:avLst>
          </a:prstGeom>
          <a:solidFill>
            <a:srgbClr val="0B3B2E"/>
          </a:solidFill>
          <a:ln/>
        </p:spPr>
      </p:sp>
      <p:sp>
        <p:nvSpPr>
          <p:cNvPr id="22" name="Shape 18"/>
          <p:cNvSpPr/>
          <p:nvPr/>
        </p:nvSpPr>
        <p:spPr>
          <a:xfrm>
            <a:off x="6903720" y="2011680"/>
            <a:ext cx="14630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903720" y="2011680"/>
            <a:ext cx="0" cy="14630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1588191" y="2011680"/>
            <a:ext cx="14630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11734495" y="2011680"/>
            <a:ext cx="0" cy="14630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903720" y="5349240"/>
            <a:ext cx="14630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903720" y="5202936"/>
            <a:ext cx="0" cy="14630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11588191" y="5349240"/>
            <a:ext cx="14630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11734495" y="5202936"/>
            <a:ext cx="0" cy="14630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pic>
        <p:nvPicPr>
          <p:cNvPr id="30" name="Image 2" descr="C:\Users\julia\AppData\Local\Temp\claude\C--Users-julia-JR-PIDI-Hackathon\9bb0f1d6-e129-493d-9e1b-8076c3c334d4\scratchpad\pptx_build\icons\monit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2331720"/>
            <a:ext cx="329184" cy="329184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7662672" y="23500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DI LAYAR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7223760" y="2807208"/>
            <a:ext cx="419069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F3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ke panel Source Health &amp; Data Lineage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F3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Sorot badge status per dataset (real-time / official-release / forecast)</a:t>
            </a:r>
            <a:endParaRPr lang="en-US" sz="1350" dirty="0"/>
          </a:p>
        </p:txBody>
      </p:sp>
      <p:sp>
        <p:nvSpPr>
          <p:cNvPr id="33" name="Shape 28"/>
          <p:cNvSpPr/>
          <p:nvPr/>
        </p:nvSpPr>
        <p:spPr>
          <a:xfrm>
            <a:off x="502920" y="5532120"/>
            <a:ext cx="1554480" cy="50292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34" name="Text 29"/>
          <p:cNvSpPr/>
          <p:nvPr/>
        </p:nvSpPr>
        <p:spPr>
          <a:xfrm>
            <a:off x="502920" y="5532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BMKG</a:t>
            </a:r>
            <a:endParaRPr lang="en-US" sz="1150" dirty="0"/>
          </a:p>
        </p:txBody>
      </p:sp>
      <p:sp>
        <p:nvSpPr>
          <p:cNvPr id="35" name="Shape 30"/>
          <p:cNvSpPr/>
          <p:nvPr/>
        </p:nvSpPr>
        <p:spPr>
          <a:xfrm>
            <a:off x="2258568" y="5532120"/>
            <a:ext cx="1897380" cy="50292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36" name="Text 31"/>
          <p:cNvSpPr/>
          <p:nvPr/>
        </p:nvSpPr>
        <p:spPr>
          <a:xfrm>
            <a:off x="2258568" y="5532120"/>
            <a:ext cx="1897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Harga Pangan</a:t>
            </a:r>
            <a:endParaRPr lang="en-US" sz="1150" dirty="0"/>
          </a:p>
        </p:txBody>
      </p:sp>
      <p:sp>
        <p:nvSpPr>
          <p:cNvPr id="37" name="Shape 32"/>
          <p:cNvSpPr/>
          <p:nvPr/>
        </p:nvSpPr>
        <p:spPr>
          <a:xfrm>
            <a:off x="4357116" y="5532120"/>
            <a:ext cx="1554480" cy="50292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38" name="Text 33"/>
          <p:cNvSpPr/>
          <p:nvPr/>
        </p:nvSpPr>
        <p:spPr>
          <a:xfrm>
            <a:off x="4357116" y="5532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BPS</a:t>
            </a:r>
            <a:endParaRPr lang="en-US" sz="1150" dirty="0"/>
          </a:p>
        </p:txBody>
      </p:sp>
      <p:sp>
        <p:nvSpPr>
          <p:cNvPr id="39" name="Shape 34"/>
          <p:cNvSpPr/>
          <p:nvPr/>
        </p:nvSpPr>
        <p:spPr>
          <a:xfrm>
            <a:off x="6112764" y="5532120"/>
            <a:ext cx="1554480" cy="50292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40" name="Text 35"/>
          <p:cNvSpPr/>
          <p:nvPr/>
        </p:nvSpPr>
        <p:spPr>
          <a:xfrm>
            <a:off x="6112764" y="5532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NOAA ENSO</a:t>
            </a:r>
            <a:endParaRPr lang="en-US" sz="1150" dirty="0"/>
          </a:p>
        </p:txBody>
      </p:sp>
      <p:sp>
        <p:nvSpPr>
          <p:cNvPr id="41" name="Text 3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Kepang AI · Tim J4 · Video Pitch 180 detik</a:t>
            </a:r>
            <a:endParaRPr lang="en-US" sz="900" dirty="0"/>
          </a:p>
        </p:txBody>
      </p:sp>
      <p:sp>
        <p:nvSpPr>
          <p:cNvPr id="42" name="Text 37"/>
          <p:cNvSpPr/>
          <p:nvPr/>
        </p:nvSpPr>
        <p:spPr>
          <a:xfrm>
            <a:off x="894557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 3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0F4534"/>
          </a:solidFill>
          <a:ln w="12700">
            <a:solidFill>
              <a:srgbClr val="1F5A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0:45–0:55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814255" y="384048"/>
            <a:ext cx="1874520" cy="310896"/>
          </a:xfrm>
          <a:prstGeom prst="roundRect">
            <a:avLst>
              <a:gd name="adj" fmla="val 17647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5" name="Image 0" descr="C:\Users\julia\AppData\Local\Temp\claude\C--Users-julia-JR-PIDI-Hackathon\9bb0f1d6-e129-493d-9e1b-8076c3c334d4\scratchpad\pptx_build\icons\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87407" y="438912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143439" y="38404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OVERLAY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292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spc="12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DAMPAK &amp; PASAR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23748" y="1691640"/>
            <a:ext cx="5120640" cy="3566160"/>
          </a:xfrm>
          <a:prstGeom prst="roundRect">
            <a:avLst>
              <a:gd name="adj" fmla="val 3077"/>
            </a:avLst>
          </a:prstGeom>
          <a:solidFill>
            <a:srgbClr val="0B3B2E"/>
          </a:solidFill>
          <a:ln w="12700">
            <a:solidFill>
              <a:srgbClr val="1F5A4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78028" y="1645920"/>
            <a:ext cx="14630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78028" y="1645920"/>
            <a:ext cx="0" cy="14630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43804" y="1645920"/>
            <a:ext cx="14630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90108" y="1645920"/>
            <a:ext cx="0" cy="14630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78028" y="5303520"/>
            <a:ext cx="14630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78028" y="5157216"/>
            <a:ext cx="0" cy="14630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43804" y="5303520"/>
            <a:ext cx="14630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90108" y="5157216"/>
            <a:ext cx="0" cy="14630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pic>
        <p:nvPicPr>
          <p:cNvPr id="17" name="Image 1" descr="C:\Users\julia\AppData\Local\Temp\claude\C--Users-julia-JR-PIDI-Hackathon\9bb0f1d6-e129-493d-9e1b-8076c3c334d4\scratchpad\pptx_build\icons\trending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508" y="2057400"/>
            <a:ext cx="502920" cy="5029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089508" y="269748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Rp210,4 T</a:t>
            </a:r>
            <a:endParaRPr lang="en-US" sz="4600" dirty="0"/>
          </a:p>
        </p:txBody>
      </p:sp>
      <p:sp>
        <p:nvSpPr>
          <p:cNvPr id="19" name="Text 15"/>
          <p:cNvSpPr/>
          <p:nvPr/>
        </p:nvSpPr>
        <p:spPr>
          <a:xfrm>
            <a:off x="1089508" y="384048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Alokasi APBN 2026 untuk ketahanan pangan — konteks pasar nyata, bukan proyeksi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347308" y="1691640"/>
            <a:ext cx="5120640" cy="3566160"/>
          </a:xfrm>
          <a:prstGeom prst="roundRect">
            <a:avLst>
              <a:gd name="adj" fmla="val 3077"/>
            </a:avLst>
          </a:prstGeom>
          <a:solidFill>
            <a:srgbClr val="0B3B2E"/>
          </a:solidFill>
          <a:ln w="12700">
            <a:solidFill>
              <a:srgbClr val="1F5A44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301588" y="1645920"/>
            <a:ext cx="14630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301588" y="1645920"/>
            <a:ext cx="0" cy="14630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67364" y="1645920"/>
            <a:ext cx="14630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1513668" y="1645920"/>
            <a:ext cx="0" cy="14630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301588" y="5303520"/>
            <a:ext cx="14630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301588" y="5157216"/>
            <a:ext cx="0" cy="14630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11367364" y="5303520"/>
            <a:ext cx="14630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11513668" y="5157216"/>
            <a:ext cx="0" cy="14630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pic>
        <p:nvPicPr>
          <p:cNvPr id="29" name="Image 2" descr="C:\Users\julia\AppData\Local\Temp\claude\C--Users-julia-JR-PIDI-Hackathon\9bb0f1d6-e129-493d-9e1b-8076c3c334d4\scratchpad\pptx_build\icons\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068" y="2057400"/>
            <a:ext cx="502920" cy="50292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713068" y="269748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 Menit</a:t>
            </a:r>
            <a:endParaRPr lang="en-US" sz="4600" dirty="0"/>
          </a:p>
        </p:txBody>
      </p:sp>
      <p:sp>
        <p:nvSpPr>
          <p:cNvPr id="31" name="Text 26"/>
          <p:cNvSpPr/>
          <p:nvPr/>
        </p:nvSpPr>
        <p:spPr>
          <a:xfrm>
            <a:off x="6713068" y="384048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Identifikasi wilayah prioritas — dari sebelumnya berjam-jam lintas spreadsheet</a:t>
            </a:r>
            <a:endParaRPr lang="en-US" sz="1400" dirty="0"/>
          </a:p>
        </p:txBody>
      </p:sp>
      <p:sp>
        <p:nvSpPr>
          <p:cNvPr id="32" name="Text 27"/>
          <p:cNvSpPr/>
          <p:nvPr/>
        </p:nvSpPr>
        <p:spPr>
          <a:xfrm>
            <a:off x="822960" y="55778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F3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"Hasilnya: identifikasi wilayah prioritas dari berjam-jam jadi di bawah tiga menit. Pasarnya nyata — APBN pangan 210 triliun. Model SaaS ke pemda dan BI regional."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0F4534"/>
          </a:solidFill>
          <a:ln w="12700">
            <a:solidFill>
              <a:srgbClr val="1F5A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0:55–1:00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814255" y="384048"/>
            <a:ext cx="1874520" cy="310896"/>
          </a:xfrm>
          <a:prstGeom prst="roundRect">
            <a:avLst>
              <a:gd name="adj" fmla="val 17647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5" name="Image 0" descr="C:\Users\julia\AppData\Local\Temp\claude\C--Users-julia-JR-PIDI-Hackathon\9bb0f1d6-e129-493d-9e1b-8076c3c334d4\scratchpad\pptx_build\icons\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87407" y="438912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143439" y="38404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OVERLAY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920240" y="2103120"/>
            <a:ext cx="8351215" cy="2743200"/>
          </a:xfrm>
          <a:prstGeom prst="roundRect">
            <a:avLst>
              <a:gd name="adj" fmla="val 4667"/>
            </a:avLst>
          </a:prstGeom>
          <a:solidFill>
            <a:srgbClr val="0B3B2E"/>
          </a:solidFill>
          <a:ln w="12700">
            <a:solidFill>
              <a:srgbClr val="1F5A4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874520" y="2057400"/>
            <a:ext cx="14630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874520" y="2057400"/>
            <a:ext cx="0" cy="14630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170871" y="2057400"/>
            <a:ext cx="14630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317175" y="2057400"/>
            <a:ext cx="0" cy="14630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874520" y="4892040"/>
            <a:ext cx="14630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874520" y="4745736"/>
            <a:ext cx="0" cy="14630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170871" y="4892040"/>
            <a:ext cx="14630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317175" y="4745736"/>
            <a:ext cx="0" cy="14630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pic>
        <p:nvPicPr>
          <p:cNvPr id="16" name="Image 1" descr="C:\Users\julia\AppData\Local\Temp\claude\C--Users-julia-JR-PIDI-Hackathon\9bb0f1d6-e129-493d-9e1b-8076c3c334d4\scratchpad\pptx_build\icons\check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5808" y="2377440"/>
            <a:ext cx="640080" cy="6400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194560" y="3154680"/>
            <a:ext cx="78025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pidi-seven.vercel.app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2194560" y="3749040"/>
            <a:ext cx="7802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live dengan data real — Tim J4, siap pilot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1188720" y="5212080"/>
            <a:ext cx="9814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F3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"Prototype sudah live dengan data real. Kami buka pilot dengan BI dan TPID."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ulia\AppData\Local\Temp\claude\C--Users-julia-JR-PIDI-Hackathon\9bb0f1d6-e129-493d-9e1b-8076c3c334d4\scratchpad\pptx_build\icons\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4368" y="196596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301752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2 — DEMO LIVE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318608" y="3794760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0F4534"/>
          </a:solidFill>
          <a:ln w="12700">
            <a:solidFill>
              <a:srgbClr val="1F5A4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18608" y="379476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1:00 – 3:00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88720" y="4434840"/>
            <a:ext cx="9814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recording langsung dari aplikasi live — tanpa slide, kecuali kartu penutup di akhir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Kepang AI · Tim J4 · Video Pitch 180 detik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94557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Pembatas Bagian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F3FAF6"/>
          </a:solidFill>
          <a:ln w="12700">
            <a:solidFill>
              <a:srgbClr val="D8E8D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1:00–1:10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814255" y="384048"/>
            <a:ext cx="1874520" cy="310896"/>
          </a:xfrm>
          <a:prstGeom prst="roundRect">
            <a:avLst>
              <a:gd name="adj" fmla="val 17647"/>
            </a:avLst>
          </a:prstGeom>
          <a:solidFill>
            <a:srgbClr val="FFF7E8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5" name="Image 0" descr="C:\Users\julia\AppData\Local\Temp\claude\C--Users-julia-JR-PIDI-Hackathon\9bb0f1d6-e129-493d-9e1b-8076c3c334d4\scratchpad\pptx_build\icons\vide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87407" y="438912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143439" y="38404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REKAM LAYAR LIVE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2920" y="8686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120" kern="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PENGANTAR DEEP DIVE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11704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Pengantar Deep-Dive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502920" y="2057400"/>
            <a:ext cx="626364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D8E8DE"/>
            </a:solidFill>
            <a:prstDash val="solid"/>
          </a:ln>
          <a:effectLst>
            <a:outerShdw sx="100000" sy="100000" kx="0" ky="0" algn="bl" rotWithShape="0" blurRad="152400" dist="50800" dir="5400000">
              <a:srgbClr val="0B1F17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011680"/>
            <a:ext cx="146304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2011680"/>
            <a:ext cx="0" cy="146304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665976" y="2011680"/>
            <a:ext cx="146304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12280" y="2011680"/>
            <a:ext cx="0" cy="146304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5349240"/>
            <a:ext cx="146304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5202936"/>
            <a:ext cx="0" cy="146304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665976" y="5349240"/>
            <a:ext cx="146304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12280" y="5202936"/>
            <a:ext cx="0" cy="146304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pic>
        <p:nvPicPr>
          <p:cNvPr id="18" name="Image 1" descr="C:\Users\julia\AppData\Local\Temp\claude\C--Users-julia-JR-PIDI-Hackathon\9bb0f1d6-e129-493d-9e1b-8076c3c334d4\scratchpad\pptx_build\icons\compa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350008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280160" y="23682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1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NARASI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795528" y="2834640"/>
            <a:ext cx="567842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50" i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 alur kerja seorang analis TPID saat harga beras naik cepat. Saya mulai dari Cockpit.</a:t>
            </a:r>
            <a:endParaRPr lang="en-US" sz="1550" dirty="0"/>
          </a:p>
        </p:txBody>
      </p:sp>
      <p:sp>
        <p:nvSpPr>
          <p:cNvPr id="21" name="Shape 17"/>
          <p:cNvSpPr/>
          <p:nvPr/>
        </p:nvSpPr>
        <p:spPr>
          <a:xfrm>
            <a:off x="6949440" y="2057400"/>
            <a:ext cx="4739335" cy="3246120"/>
          </a:xfrm>
          <a:prstGeom prst="roundRect">
            <a:avLst>
              <a:gd name="adj" fmla="val 2535"/>
            </a:avLst>
          </a:prstGeom>
          <a:solidFill>
            <a:srgbClr val="0B3B2E"/>
          </a:solidFill>
          <a:ln/>
        </p:spPr>
      </p:sp>
      <p:sp>
        <p:nvSpPr>
          <p:cNvPr id="22" name="Shape 18"/>
          <p:cNvSpPr/>
          <p:nvPr/>
        </p:nvSpPr>
        <p:spPr>
          <a:xfrm>
            <a:off x="6903720" y="2011680"/>
            <a:ext cx="14630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903720" y="2011680"/>
            <a:ext cx="0" cy="14630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1588191" y="2011680"/>
            <a:ext cx="14630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11734495" y="2011680"/>
            <a:ext cx="0" cy="14630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903720" y="5349240"/>
            <a:ext cx="14630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903720" y="5202936"/>
            <a:ext cx="0" cy="14630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11588191" y="5349240"/>
            <a:ext cx="14630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11734495" y="5202936"/>
            <a:ext cx="0" cy="14630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pic>
        <p:nvPicPr>
          <p:cNvPr id="30" name="Image 2" descr="C:\Users\julia\AppData\Local\Temp\claude\C--Users-julia-JR-PIDI-Hackathon\9bb0f1d6-e129-493d-9e1b-8076c3c334d4\scratchpad\pptx_build\icons\monit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2331720"/>
            <a:ext cx="329184" cy="329184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7662672" y="23500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DI LAYAR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7223760" y="2807208"/>
            <a:ext cx="419069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F3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pidi-seven.vercel.app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F3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Tampilkan halaman Cockpit dari awal</a:t>
            </a:r>
            <a:endParaRPr lang="en-US" sz="1350" dirty="0"/>
          </a:p>
        </p:txBody>
      </p:sp>
      <p:sp>
        <p:nvSpPr>
          <p:cNvPr id="33" name="Text 2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Kepang AI · Tim J4 · Video Pitch 180 detik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894557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 4 / 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F3FAF6"/>
          </a:solidFill>
          <a:ln w="12700">
            <a:solidFill>
              <a:srgbClr val="D8E8D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1:10–2:00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814255" y="384048"/>
            <a:ext cx="1874520" cy="310896"/>
          </a:xfrm>
          <a:prstGeom prst="roundRect">
            <a:avLst>
              <a:gd name="adj" fmla="val 17647"/>
            </a:avLst>
          </a:prstGeom>
          <a:solidFill>
            <a:srgbClr val="FFF7E8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5" name="Image 0" descr="C:\Users\julia\AppData\Local\Temp\claude\C--Users-julia-JR-PIDI-Hackathon\9bb0f1d6-e129-493d-9e1b-8076c3c334d4\scratchpad\pptx_build\icons\vide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87407" y="438912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143439" y="38404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REKAM LAYAR LIVE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2920" y="868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120" kern="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BUKTI UTAMA INOVASI (WALKTHROUGH)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11704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Decision Brief, Peta Provinsi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502920" y="2103120"/>
            <a:ext cx="3545738" cy="3749040"/>
          </a:xfrm>
          <a:prstGeom prst="roundRect">
            <a:avLst>
              <a:gd name="adj" fmla="val 2321"/>
            </a:avLst>
          </a:prstGeom>
          <a:solidFill>
            <a:srgbClr val="FFFFFF"/>
          </a:solidFill>
          <a:ln w="12700">
            <a:solidFill>
              <a:srgbClr val="D8E8DE"/>
            </a:solidFill>
            <a:prstDash val="solid"/>
          </a:ln>
          <a:effectLst>
            <a:outerShdw sx="100000" sy="100000" kx="0" ky="0" algn="bl" rotWithShape="0" blurRad="152400" dist="50800" dir="5400000">
              <a:srgbClr val="0B1F17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057400"/>
            <a:ext cx="146304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2057400"/>
            <a:ext cx="0" cy="146304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948074" y="2057400"/>
            <a:ext cx="146304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094378" y="2057400"/>
            <a:ext cx="0" cy="146304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5897880"/>
            <a:ext cx="146304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5751576"/>
            <a:ext cx="0" cy="146304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948074" y="5897880"/>
            <a:ext cx="146304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94378" y="5751576"/>
            <a:ext cx="0" cy="146304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23317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pic>
        <p:nvPicPr>
          <p:cNvPr id="20" name="Image 1" descr="C:\Users\julia\AppData\Local\Temp\claude\C--Users-julia-JR-PIDI-Hackathon\9bb0f1d6-e129-493d-9e1b-8076c3c334d4\scratchpad\pptx_build\icons\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4298" y="2331720"/>
            <a:ext cx="384048" cy="38404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31520" y="2834640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8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SWITCHER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31520" y="3200400"/>
            <a:ext cx="308853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Pertama saya pilih peran — TPID — dan brief-nya menyesuaikan tanggung jawab saya.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731520" y="4983480"/>
            <a:ext cx="30885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role switcher (TPID → Bulog sekilas → kembali TPID)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322978" y="2103120"/>
            <a:ext cx="3545738" cy="3749040"/>
          </a:xfrm>
          <a:prstGeom prst="roundRect">
            <a:avLst>
              <a:gd name="adj" fmla="val 2321"/>
            </a:avLst>
          </a:prstGeom>
          <a:solidFill>
            <a:srgbClr val="FFFFFF"/>
          </a:solidFill>
          <a:ln w="12700">
            <a:solidFill>
              <a:srgbClr val="D8E8DE"/>
            </a:solidFill>
            <a:prstDash val="solid"/>
          </a:ln>
          <a:effectLst>
            <a:outerShdw sx="100000" sy="100000" kx="0" ky="0" algn="bl" rotWithShape="0" blurRad="152400" dist="50800" dir="5400000">
              <a:srgbClr val="0B1F17">
                <a:alpha val="16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277258" y="2057400"/>
            <a:ext cx="146304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277258" y="2057400"/>
            <a:ext cx="0" cy="146304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768133" y="2057400"/>
            <a:ext cx="146304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914437" y="2057400"/>
            <a:ext cx="0" cy="146304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277258" y="5897880"/>
            <a:ext cx="146304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4277258" y="5751576"/>
            <a:ext cx="0" cy="146304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7768133" y="5897880"/>
            <a:ext cx="146304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7914437" y="5751576"/>
            <a:ext cx="0" cy="146304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551578" y="23317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34" name="Text 30"/>
          <p:cNvSpPr/>
          <p:nvPr/>
        </p:nvSpPr>
        <p:spPr>
          <a:xfrm>
            <a:off x="4551578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pic>
        <p:nvPicPr>
          <p:cNvPr id="35" name="Image 2" descr="C:\Users\julia\AppData\Local\Temp\claude\C--Users-julia-JR-PIDI-Hackathon\9bb0f1d6-e129-493d-9e1b-8076c3c334d4\scratchpad\pptx_build\icons\targ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4357" y="2331720"/>
            <a:ext cx="384048" cy="384048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4551578" y="2834640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8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BRIEF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4551578" y="3200400"/>
            <a:ext cx="308853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Score 63, dan sistem sudah menaruh aksi prioritas: pre-positioning stok ke wilayah defisit, lengkap dengan owner, timeframe, dan KPI.</a:t>
            </a:r>
            <a:endParaRPr lang="en-US" sz="1250" dirty="0"/>
          </a:p>
        </p:txBody>
      </p:sp>
      <p:sp>
        <p:nvSpPr>
          <p:cNvPr id="38" name="Text 33"/>
          <p:cNvSpPr/>
          <p:nvPr/>
        </p:nvSpPr>
        <p:spPr>
          <a:xfrm>
            <a:off x="4551578" y="4983480"/>
            <a:ext cx="30885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Tunjuk decision brief + klik 1 kartu aksi (drill-down)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8143037" y="2103120"/>
            <a:ext cx="3545738" cy="3749040"/>
          </a:xfrm>
          <a:prstGeom prst="roundRect">
            <a:avLst>
              <a:gd name="adj" fmla="val 2321"/>
            </a:avLst>
          </a:prstGeom>
          <a:solidFill>
            <a:srgbClr val="FFFFFF"/>
          </a:solidFill>
          <a:ln w="12700">
            <a:solidFill>
              <a:srgbClr val="D8E8DE"/>
            </a:solidFill>
            <a:prstDash val="solid"/>
          </a:ln>
          <a:effectLst>
            <a:outerShdw sx="100000" sy="100000" kx="0" ky="0" algn="bl" rotWithShape="0" blurRad="152400" dist="50800" dir="5400000">
              <a:srgbClr val="0B1F17">
                <a:alpha val="16000"/>
              </a:srgbClr>
            </a:outerShdw>
          </a:effectLst>
        </p:spPr>
      </p:sp>
      <p:sp>
        <p:nvSpPr>
          <p:cNvPr id="40" name="Shape 35"/>
          <p:cNvSpPr/>
          <p:nvPr/>
        </p:nvSpPr>
        <p:spPr>
          <a:xfrm>
            <a:off x="8097317" y="2057400"/>
            <a:ext cx="146304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8097317" y="2057400"/>
            <a:ext cx="0" cy="146304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1588191" y="2057400"/>
            <a:ext cx="146304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1734495" y="2057400"/>
            <a:ext cx="0" cy="146304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8097317" y="5897880"/>
            <a:ext cx="146304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8097317" y="5751576"/>
            <a:ext cx="0" cy="146304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11588191" y="5897880"/>
            <a:ext cx="146304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11734495" y="5751576"/>
            <a:ext cx="0" cy="146304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8371637" y="23317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49" name="Text 44"/>
          <p:cNvSpPr/>
          <p:nvPr/>
        </p:nvSpPr>
        <p:spPr>
          <a:xfrm>
            <a:off x="8371637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pic>
        <p:nvPicPr>
          <p:cNvPr id="50" name="Image 3" descr="C:\Users\julia\AppData\Local\Temp\claude\C--Users-julia-JR-PIDI-Hackathon\9bb0f1d6-e129-493d-9e1b-8076c3c334d4\scratchpad\pptx_build\icons\mapP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4415" y="2331720"/>
            <a:ext cx="384048" cy="384048"/>
          </a:xfrm>
          <a:prstGeom prst="rect">
            <a:avLst/>
          </a:prstGeom>
        </p:spPr>
      </p:pic>
      <p:sp>
        <p:nvSpPr>
          <p:cNvPr id="51" name="Text 45"/>
          <p:cNvSpPr/>
          <p:nvPr/>
        </p:nvSpPr>
        <p:spPr>
          <a:xfrm>
            <a:off x="8371637" y="2834640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8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NASIONAL</a:t>
            </a:r>
            <a:endParaRPr lang="en-US" sz="1100" dirty="0"/>
          </a:p>
        </p:txBody>
      </p:sp>
      <p:sp>
        <p:nvSpPr>
          <p:cNvPr id="52" name="Text 46"/>
          <p:cNvSpPr/>
          <p:nvPr/>
        </p:nvSpPr>
        <p:spPr>
          <a:xfrm>
            <a:off x="8371637" y="3200400"/>
            <a:ext cx="308853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peta nasional, saya lihat langsung provinsi mana yang harga berasnya di atas median.</a:t>
            </a:r>
            <a:endParaRPr lang="en-US" sz="1250" dirty="0"/>
          </a:p>
        </p:txBody>
      </p:sp>
      <p:sp>
        <p:nvSpPr>
          <p:cNvPr id="53" name="Text 47"/>
          <p:cNvSpPr/>
          <p:nvPr/>
        </p:nvSpPr>
        <p:spPr>
          <a:xfrm>
            <a:off x="8371637" y="4983480"/>
            <a:ext cx="30885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2–3 provinsi merah di peta 34 provinsi</a:t>
            </a:r>
            <a:endParaRPr lang="en-US" sz="1100" dirty="0"/>
          </a:p>
        </p:txBody>
      </p:sp>
      <p:sp>
        <p:nvSpPr>
          <p:cNvPr id="54" name="Text 4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Kepang AI · Tim J4 · Video Pitch 180 detik</a:t>
            </a:r>
            <a:endParaRPr lang="en-US" sz="900" dirty="0"/>
          </a:p>
        </p:txBody>
      </p:sp>
      <p:sp>
        <p:nvSpPr>
          <p:cNvPr id="55" name="Text 49"/>
          <p:cNvSpPr/>
          <p:nvPr/>
        </p:nvSpPr>
        <p:spPr>
          <a:xfrm>
            <a:off x="894557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 5 / 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F3FAF6"/>
          </a:solidFill>
          <a:ln w="12700">
            <a:solidFill>
              <a:srgbClr val="D8E8D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2:00–2:30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814255" y="384048"/>
            <a:ext cx="1874520" cy="310896"/>
          </a:xfrm>
          <a:prstGeom prst="roundRect">
            <a:avLst>
              <a:gd name="adj" fmla="val 17647"/>
            </a:avLst>
          </a:prstGeom>
          <a:solidFill>
            <a:srgbClr val="FFF7E8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5" name="Image 0" descr="C:\Users\julia\AppData\Local\Temp\claude\C--Users-julia-JR-PIDI-Hackathon\9bb0f1d6-e129-493d-9e1b-8076c3c334d4\scratchpad\pptx_build\icons\vide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87407" y="438912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143439" y="38404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REKAM LAYAR LIVE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2920" y="8686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120" kern="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KERJA &amp; KEDALAMAN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11704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Skor &amp; Data Lineage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502920" y="2057400"/>
            <a:ext cx="626364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D8E8DE"/>
            </a:solidFill>
            <a:prstDash val="solid"/>
          </a:ln>
          <a:effectLst>
            <a:outerShdw sx="100000" sy="100000" kx="0" ky="0" algn="bl" rotWithShape="0" blurRad="152400" dist="50800" dir="5400000">
              <a:srgbClr val="0B1F17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011680"/>
            <a:ext cx="146304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2011680"/>
            <a:ext cx="0" cy="146304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665976" y="2011680"/>
            <a:ext cx="146304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12280" y="2011680"/>
            <a:ext cx="0" cy="146304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5349240"/>
            <a:ext cx="146304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5202936"/>
            <a:ext cx="0" cy="146304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665976" y="5349240"/>
            <a:ext cx="146304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12280" y="5202936"/>
            <a:ext cx="0" cy="146304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pic>
        <p:nvPicPr>
          <p:cNvPr id="18" name="Image 1" descr="C:\Users\julia\AppData\Local\Temp\claude\C--Users-julia-JR-PIDI-Hackathon\9bb0f1d6-e129-493d-9e1b-8076c3c334d4\scratchpad\pptx_build\icons\compa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350008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280160" y="23682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1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NARASI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795528" y="2834640"/>
            <a:ext cx="567842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50" i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baliknya: input harga harian BI, forecast BMKG, fase ENSO NOAA, produksi BPS. Diproses jadi skor risiko dengan bobot tetap, lalu digabung jadi Resilience Score. Setiap dataset diberi label real-time, rilis resmi, forecast, atau belum tersedia — bisa diaudit dari API, bukan cuma diklaim di layar.</a:t>
            </a:r>
            <a:endParaRPr lang="en-US" sz="1550" dirty="0"/>
          </a:p>
        </p:txBody>
      </p:sp>
      <p:sp>
        <p:nvSpPr>
          <p:cNvPr id="21" name="Shape 17"/>
          <p:cNvSpPr/>
          <p:nvPr/>
        </p:nvSpPr>
        <p:spPr>
          <a:xfrm>
            <a:off x="6949440" y="2057400"/>
            <a:ext cx="4739335" cy="3246120"/>
          </a:xfrm>
          <a:prstGeom prst="roundRect">
            <a:avLst>
              <a:gd name="adj" fmla="val 2535"/>
            </a:avLst>
          </a:prstGeom>
          <a:solidFill>
            <a:srgbClr val="0B3B2E"/>
          </a:solidFill>
          <a:ln/>
        </p:spPr>
      </p:sp>
      <p:sp>
        <p:nvSpPr>
          <p:cNvPr id="22" name="Shape 18"/>
          <p:cNvSpPr/>
          <p:nvPr/>
        </p:nvSpPr>
        <p:spPr>
          <a:xfrm>
            <a:off x="6903720" y="2011680"/>
            <a:ext cx="14630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903720" y="2011680"/>
            <a:ext cx="0" cy="14630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1588191" y="2011680"/>
            <a:ext cx="14630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11734495" y="2011680"/>
            <a:ext cx="0" cy="14630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903720" y="5349240"/>
            <a:ext cx="14630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903720" y="5202936"/>
            <a:ext cx="0" cy="14630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11588191" y="5349240"/>
            <a:ext cx="14630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11734495" y="5202936"/>
            <a:ext cx="0" cy="14630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pic>
        <p:nvPicPr>
          <p:cNvPr id="30" name="Image 2" descr="C:\Users\julia\AppData\Local\Temp\claude\C--Users-julia-JR-PIDI-Hackathon\9bb0f1d6-e129-493d-9e1b-8076c3c334d4\scratchpad\pptx_build\icons\monit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2331720"/>
            <a:ext cx="329184" cy="329184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7662672" y="23500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DI LAYAR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7223760" y="2807208"/>
            <a:ext cx="419069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F3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ke panel Source Health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F3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Tunjuk label tiap dataset + persen confidence</a:t>
            </a:r>
            <a:endParaRPr lang="en-US" sz="1350" dirty="0"/>
          </a:p>
        </p:txBody>
      </p:sp>
      <p:sp>
        <p:nvSpPr>
          <p:cNvPr id="33" name="Text 2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Kepang AI · Tim J4 · Video Pitch 180 detik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894557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 6 / 7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502920" y="5532120"/>
            <a:ext cx="1933956" cy="502920"/>
          </a:xfrm>
          <a:prstGeom prst="roundRect">
            <a:avLst>
              <a:gd name="adj" fmla="val 50000"/>
            </a:avLst>
          </a:prstGeom>
          <a:solidFill>
            <a:srgbClr val="0B3B2E"/>
          </a:solidFill>
          <a:ln/>
        </p:spPr>
      </p:sp>
      <p:sp>
        <p:nvSpPr>
          <p:cNvPr id="37" name="Text 31"/>
          <p:cNvSpPr/>
          <p:nvPr/>
        </p:nvSpPr>
        <p:spPr>
          <a:xfrm>
            <a:off x="502920" y="5532120"/>
            <a:ext cx="19339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Deviasi Hujan 40%</a:t>
            </a:r>
            <a:endParaRPr lang="en-US" sz="1050" dirty="0"/>
          </a:p>
        </p:txBody>
      </p:sp>
      <p:sp>
        <p:nvSpPr>
          <p:cNvPr id="38" name="Shape 32"/>
          <p:cNvSpPr/>
          <p:nvPr/>
        </p:nvSpPr>
        <p:spPr>
          <a:xfrm>
            <a:off x="2619756" y="5532120"/>
            <a:ext cx="1933956" cy="502920"/>
          </a:xfrm>
          <a:prstGeom prst="roundRect">
            <a:avLst>
              <a:gd name="adj" fmla="val 50000"/>
            </a:avLst>
          </a:prstGeom>
          <a:solidFill>
            <a:srgbClr val="0B3B2E"/>
          </a:solidFill>
          <a:ln/>
        </p:spPr>
      </p:sp>
      <p:sp>
        <p:nvSpPr>
          <p:cNvPr id="39" name="Text 33"/>
          <p:cNvSpPr/>
          <p:nvPr/>
        </p:nvSpPr>
        <p:spPr>
          <a:xfrm>
            <a:off x="2619756" y="5532120"/>
            <a:ext cx="19339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Indeks Banjir 30%</a:t>
            </a:r>
            <a:endParaRPr lang="en-US" sz="1050" dirty="0"/>
          </a:p>
        </p:txBody>
      </p:sp>
      <p:sp>
        <p:nvSpPr>
          <p:cNvPr id="40" name="Shape 34"/>
          <p:cNvSpPr/>
          <p:nvPr/>
        </p:nvSpPr>
        <p:spPr>
          <a:xfrm>
            <a:off x="4736592" y="5532120"/>
            <a:ext cx="2281428" cy="502920"/>
          </a:xfrm>
          <a:prstGeom prst="roundRect">
            <a:avLst>
              <a:gd name="adj" fmla="val 50000"/>
            </a:avLst>
          </a:prstGeom>
          <a:solidFill>
            <a:srgbClr val="0B3B2E"/>
          </a:solidFill>
          <a:ln/>
        </p:spPr>
      </p:sp>
      <p:sp>
        <p:nvSpPr>
          <p:cNvPr id="41" name="Text 35"/>
          <p:cNvSpPr/>
          <p:nvPr/>
        </p:nvSpPr>
        <p:spPr>
          <a:xfrm>
            <a:off x="4736592" y="5532120"/>
            <a:ext cx="22814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Indeks Kekeringan 20%</a:t>
            </a:r>
            <a:endParaRPr lang="en-US" sz="1050" dirty="0"/>
          </a:p>
        </p:txBody>
      </p:sp>
      <p:sp>
        <p:nvSpPr>
          <p:cNvPr id="42" name="Shape 36"/>
          <p:cNvSpPr/>
          <p:nvPr/>
        </p:nvSpPr>
        <p:spPr>
          <a:xfrm>
            <a:off x="7200900" y="5532120"/>
            <a:ext cx="2107692" cy="502920"/>
          </a:xfrm>
          <a:prstGeom prst="roundRect">
            <a:avLst>
              <a:gd name="adj" fmla="val 50000"/>
            </a:avLst>
          </a:prstGeom>
          <a:solidFill>
            <a:srgbClr val="0B3B2E"/>
          </a:solidFill>
          <a:ln/>
        </p:spPr>
      </p:sp>
      <p:sp>
        <p:nvSpPr>
          <p:cNvPr id="43" name="Text 37"/>
          <p:cNvSpPr/>
          <p:nvPr/>
        </p:nvSpPr>
        <p:spPr>
          <a:xfrm>
            <a:off x="7200900" y="5532120"/>
            <a:ext cx="21076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 ENSO 10%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F3FAF6"/>
          </a:solidFill>
          <a:ln w="12700">
            <a:solidFill>
              <a:srgbClr val="D8E8D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2:30–2:50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814255" y="384048"/>
            <a:ext cx="1874520" cy="310896"/>
          </a:xfrm>
          <a:prstGeom prst="roundRect">
            <a:avLst>
              <a:gd name="adj" fmla="val 17647"/>
            </a:avLst>
          </a:prstGeom>
          <a:solidFill>
            <a:srgbClr val="FFF7E8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5" name="Image 0" descr="C:\Users\julia\AppData\Local\Temp\claude\C--Users-julia-JR-PIDI-Hackathon\9bb0f1d6-e129-493d-9e1b-8076c3c334d4\scratchpad\pptx_build\icons\vide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87407" y="438912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143439" y="38404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REKAM LAYAR LIVE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2920" y="8686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120" kern="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BUKTI VALIDASI / HASIL AWAL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11704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Bukti Live &amp; Simulator Skenario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502920" y="2057400"/>
            <a:ext cx="626364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D8E8DE"/>
            </a:solidFill>
            <a:prstDash val="solid"/>
          </a:ln>
          <a:effectLst>
            <a:outerShdw sx="100000" sy="100000" kx="0" ky="0" algn="bl" rotWithShape="0" blurRad="152400" dist="50800" dir="5400000">
              <a:srgbClr val="0B1F17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011680"/>
            <a:ext cx="146304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2011680"/>
            <a:ext cx="0" cy="146304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665976" y="2011680"/>
            <a:ext cx="146304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12280" y="2011680"/>
            <a:ext cx="0" cy="146304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5349240"/>
            <a:ext cx="146304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5202936"/>
            <a:ext cx="0" cy="146304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665976" y="5349240"/>
            <a:ext cx="146304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12280" y="5202936"/>
            <a:ext cx="0" cy="146304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pic>
        <p:nvPicPr>
          <p:cNvPr id="18" name="Image 1" descr="C:\Users\julia\AppData\Local\Temp\claude\C--Users-julia-JR-PIDI-Hackathon\9bb0f1d6-e129-493d-9e1b-8076c3c334d4\scratchpad\pptx_build\icons\compa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350008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280160" y="23682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1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NARASI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795528" y="2834640"/>
            <a:ext cx="567842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50" i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Datanya benar-benar hidup — harga per provinsi ini ditarik langsung dari BI, bukan angka contoh. Setiap integrasi kami verifikasi; prosesnya menemukan dan memperbaiki bug nyata. Validasi ke pengguna langsung — wawancara dengan BI yang menangani pangan — sedang kami jadwalkan.</a:t>
            </a:r>
            <a:endParaRPr lang="en-US" sz="1550" dirty="0"/>
          </a:p>
        </p:txBody>
      </p:sp>
      <p:sp>
        <p:nvSpPr>
          <p:cNvPr id="21" name="Shape 17"/>
          <p:cNvSpPr/>
          <p:nvPr/>
        </p:nvSpPr>
        <p:spPr>
          <a:xfrm>
            <a:off x="6949440" y="2057400"/>
            <a:ext cx="4739335" cy="3246120"/>
          </a:xfrm>
          <a:prstGeom prst="roundRect">
            <a:avLst>
              <a:gd name="adj" fmla="val 2535"/>
            </a:avLst>
          </a:prstGeom>
          <a:solidFill>
            <a:srgbClr val="0B3B2E"/>
          </a:solidFill>
          <a:ln/>
        </p:spPr>
      </p:sp>
      <p:sp>
        <p:nvSpPr>
          <p:cNvPr id="22" name="Shape 18"/>
          <p:cNvSpPr/>
          <p:nvPr/>
        </p:nvSpPr>
        <p:spPr>
          <a:xfrm>
            <a:off x="6903720" y="2011680"/>
            <a:ext cx="14630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903720" y="2011680"/>
            <a:ext cx="0" cy="14630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1588191" y="2011680"/>
            <a:ext cx="14630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11734495" y="2011680"/>
            <a:ext cx="0" cy="14630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903720" y="5349240"/>
            <a:ext cx="14630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903720" y="5202936"/>
            <a:ext cx="0" cy="14630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11588191" y="5349240"/>
            <a:ext cx="14630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11734495" y="5202936"/>
            <a:ext cx="0" cy="14630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pic>
        <p:nvPicPr>
          <p:cNvPr id="30" name="Image 2" descr="C:\Users\julia\AppData\Local\Temp\claude\C--Users-julia-JR-PIDI-Hackathon\9bb0f1d6-e129-493d-9e1b-8076c3c334d4\scratchpad\pptx_build\icons\monit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2331720"/>
            <a:ext cx="329184" cy="329184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7662672" y="23500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DI LAYAR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7223760" y="2807208"/>
            <a:ext cx="419069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F3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Jalankan Simulator Shock — geser slider rupiah dan/atau panen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F3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Tunjukkan skor berubah real-time</a:t>
            </a:r>
            <a:endParaRPr lang="en-US" sz="1350" dirty="0"/>
          </a:p>
        </p:txBody>
      </p:sp>
      <p:sp>
        <p:nvSpPr>
          <p:cNvPr id="33" name="Text 28"/>
          <p:cNvSpPr/>
          <p:nvPr/>
        </p:nvSpPr>
        <p:spPr>
          <a:xfrm>
            <a:off x="502920" y="61722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Kejujuran: validasi pengguna langsung masih dijadwalkan, bukan diklaim sudah selesai.</a:t>
            </a:r>
            <a:endParaRPr lang="en-US" sz="1050" dirty="0"/>
          </a:p>
        </p:txBody>
      </p:sp>
      <p:sp>
        <p:nvSpPr>
          <p:cNvPr id="34" name="Text 2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Kepang AI · Tim J4 · Video Pitch 180 detik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894557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 7 / 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0F4534"/>
          </a:solidFill>
          <a:ln w="12700">
            <a:solidFill>
              <a:srgbClr val="1F5A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2:50–3:00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814255" y="384048"/>
            <a:ext cx="1874520" cy="310896"/>
          </a:xfrm>
          <a:prstGeom prst="roundRect">
            <a:avLst>
              <a:gd name="adj" fmla="val 17647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5" name="Image 0" descr="C:\Users\julia\AppData\Local\Temp\claude\C--Users-julia-JR-PIDI-Hackathon\9bb0f1d6-e129-493d-9e1b-8076c3c334d4\scratchpad\pptx_build\icons\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87407" y="438912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143439" y="38404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OVERLAY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22960" y="100584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DATA — JUJUR, BUKAN DIKARANG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23748" y="155448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0B3B2E"/>
          </a:solidFill>
          <a:ln w="16510">
            <a:solidFill>
              <a:srgbClr val="22C55E"/>
            </a:solidFill>
            <a:prstDash val="solid"/>
          </a:ln>
        </p:spPr>
      </p:sp>
      <p:pic>
        <p:nvPicPr>
          <p:cNvPr id="9" name="Image 1" descr="C:\Users\julia\AppData\Local\Temp\claude\C--Users-julia-JR-PIDI-Hackathon\9bb0f1d6-e129-493d-9e1b-8076c3c334d4\scratchpad\pptx_build\icons\check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068" y="1810512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0988" y="1828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— TERVERIFIKASI LIVE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998068" y="23774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3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(34 provinsi)  ·  Cuaca  ·  Produksi padi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347308" y="155448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0B3B2E"/>
          </a:solidFill>
          <a:ln w="16510">
            <a:solidFill>
              <a:srgbClr val="D97706"/>
            </a:solidFill>
            <a:prstDash val="solid"/>
          </a:ln>
        </p:spPr>
      </p:sp>
      <p:pic>
        <p:nvPicPr>
          <p:cNvPr id="13" name="Image 2" descr="C:\Users\julia\AppData\Local\Temp\claude\C--Users-julia-JR-PIDI-Hackathon\9bb0f1d6-e129-493d-9e1b-8076c3c334d4\scratchpad\pptx_build\icons\alertTriang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1628" y="1810512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24548" y="1828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— BELUM PRODUKSI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621628" y="23774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3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 gudang  ·  Biaya logistik aktual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822960" y="361188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pidi-seven.vercel.app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822960" y="416052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Live · Tim J4 · Siap Pilot dengan Bank Indonesia &amp; TPID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22960" y="470916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kasih.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1005840" y="5623560"/>
            <a:ext cx="10180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9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"Harga, cuaca, dan produksi sudah real. Stok dan biaya logistik kami tandai forecast sampai ada kemitraan Bapanas dan Bulog — bukan dikarang. Prototype live. Terima kasih."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oundRect">
            <a:avLst>
              <a:gd name="adj" fmla="val 7619"/>
            </a:avLst>
          </a:prstGeom>
          <a:solidFill>
            <a:srgbClr val="0B3B2E"/>
          </a:solidFill>
          <a:ln/>
        </p:spPr>
      </p:sp>
      <p:pic>
        <p:nvPicPr>
          <p:cNvPr id="3" name="Image 0" descr="C:\Users\julia\AppData\Local\Temp\claude\C--Users-julia-JR-PIDI-Hackathon\9bb0f1d6-e129-493d-9e1b-8076c3c334d4\scratchpad\pptx_build\icons\checkSqu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603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Persiapan Sebelum Rekam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7436815" y="36576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PERSIAPAN TIM — BUKAN BAGIAN DARI VIDEO FINAL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02920" y="1234440"/>
            <a:ext cx="548640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8E8D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14356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8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SEBELUM REKAM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" y="1801368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17"/>
                </a:solidFill>
              </a:rPr>
              <a:t>Buka pidi-seven.vercel.app 5–10 menit lebih dulu, refresh 1x (hangatkan backend)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17"/>
                </a:solidFill>
              </a:rPr>
              <a:t>Pastikan badge "Harga per provinsi (BI)" aktif di peta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17"/>
                </a:solidFill>
              </a:rPr>
              <a:t>Browser full-screen (F11), zoom 100–110%, tutup tab lain &amp; notifikasi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17"/>
                </a:solidFill>
              </a:rPr>
              <a:t>Latih klik-path demo 2x dengan timer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17"/>
                </a:solidFill>
              </a:rPr>
              <a:t>Siapkan rekaman cadangan (rekam sehari sebelumnya)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02920" y="3749040"/>
            <a:ext cx="548640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8E8D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39502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8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SPESIFIKASI TEKNIS (WAJIB)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" y="4315968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17"/>
                </a:solidFill>
              </a:rPr>
              <a:t>Durasi maksimal 180 detik — termasuk logo/bumper/credit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17"/>
                </a:solidFill>
              </a:rPr>
              <a:t>Resolusi minimum 1920×1080 (Full HD), rasio 16:9 horizontal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17"/>
                </a:solidFill>
              </a:rPr>
              <a:t>Upload YouTube unlisted — pastikan bisa dibuka tanpa login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17"/>
                </a:solidFill>
              </a:rPr>
              <a:t>Subtitle sangat direkomendasikan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17"/>
                </a:solidFill>
              </a:rPr>
              <a:t>Narasi jelas, musik latar tidak menutupi suara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309360" y="1234440"/>
            <a:ext cx="5379415" cy="5212080"/>
          </a:xfrm>
          <a:prstGeom prst="roundRect">
            <a:avLst>
              <a:gd name="adj" fmla="val 1579"/>
            </a:avLst>
          </a:prstGeom>
          <a:solidFill>
            <a:srgbClr val="0B3B2E"/>
          </a:solidFill>
          <a:ln/>
        </p:spPr>
      </p:sp>
      <p:sp>
        <p:nvSpPr>
          <p:cNvPr id="13" name="Shape 10"/>
          <p:cNvSpPr/>
          <p:nvPr/>
        </p:nvSpPr>
        <p:spPr>
          <a:xfrm>
            <a:off x="6263640" y="1188720"/>
            <a:ext cx="14630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63640" y="1188720"/>
            <a:ext cx="0" cy="14630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588191" y="1188720"/>
            <a:ext cx="14630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1734495" y="1188720"/>
            <a:ext cx="0" cy="14630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263640" y="6492240"/>
            <a:ext cx="14630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63640" y="6345936"/>
            <a:ext cx="0" cy="14630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1588191" y="6492240"/>
            <a:ext cx="14630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1734495" y="6345936"/>
            <a:ext cx="0" cy="14630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83680" y="1463040"/>
            <a:ext cx="4830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8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URUTAN KLIK DEMO (HAFALKAN)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583680" y="1920240"/>
            <a:ext cx="4830775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F3FAF6"/>
                </a:solidFill>
              </a:rPr>
              <a:t>1. Cockpit tampil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F3FAF6"/>
                </a:solidFill>
              </a:rPr>
              <a:t>2. Role switcher (TPID → Bulog → TPID)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F3FAF6"/>
                </a:solidFill>
              </a:rPr>
              <a:t>3. Decision brief + klik 1 kartu aksi (drill-down)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F3FAF6"/>
                </a:solidFill>
              </a:rPr>
              <a:t>4. Hover 2–3 provinsi merah di peta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F3FAF6"/>
                </a:solidFill>
              </a:rPr>
              <a:t>5. Scroll ke Source Health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F3FAF6"/>
                </a:solidFill>
              </a:rPr>
              <a:t>6. Simulator Shock — geser 1–2 slider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F3FAF6"/>
                </a:solidFill>
              </a:rPr>
              <a:t>7. Export decision brief (buka modal) → closing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Kepang AI · Tim J4 · Video Pitch 180 detik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94557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Produksi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Kepang AI - Video Pitch Deck</dc:title>
  <dc:subject>PptxGenJS Presentation</dc:subject>
  <dc:creator>Tim J4</dc:creator>
  <cp:lastModifiedBy>Tim J4</cp:lastModifiedBy>
  <cp:revision>1</cp:revision>
  <dcterms:created xsi:type="dcterms:W3CDTF">2026-07-25T10:20:19Z</dcterms:created>
  <dcterms:modified xsi:type="dcterms:W3CDTF">2026-07-25T10:20:19Z</dcterms:modified>
</cp:coreProperties>
</file>